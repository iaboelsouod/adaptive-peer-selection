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7102475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0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342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1A1A"/>
                </a:solidFill>
                <a:latin typeface="Arial"/>
              </a:rPr>
              <a:t>Weighted transfer cost (lower is better)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Communication cost</c:v>
                </c:pt>
              </c:strCache>
            </c:strRef>
          </c:tx>
          <c:dPt>
            <c:idx val="0"/>
            <c:spPr>
              <a:solidFill>
                <a:srgbClr val="E73729"/>
              </a:solidFill>
            </c:spPr>
          </c:dPt>
          <c:dPt>
            <c:idx val="1"/>
            <c:spPr>
              <a:solidFill>
                <a:srgbClr val="808288"/>
              </a:solidFill>
            </c:spPr>
          </c:dPt>
          <c:dPt>
            <c:idx val="2"/>
            <c:spPr>
              <a:solidFill>
                <a:srgbClr val="4CAC4E"/>
              </a:solidFill>
            </c:spPr>
          </c:dPt>
          <c:dPt>
            <c:idx val="3"/>
            <c:spPr>
              <a:solidFill>
                <a:srgbClr val="4CAC4E"/>
              </a:solidFill>
            </c:spPr>
          </c:dPt>
          <c:cat>
            <c:strRef>
              <c:f>Sheet1!$A$2:$A$5</c:f>
              <c:strCache>
                <c:ptCount val="4"/>
                <c:pt idx="0">
                  <c:v>Flat FedAvg</c:v>
                </c:pt>
                <c:pt idx="1">
                  <c:v>Static HFL</c:v>
                </c:pt>
                <c:pt idx="2">
                  <c:v>Adaptive H=1</c:v>
                </c:pt>
                <c:pt idx="3">
                  <c:v>Adaptive H=2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</c:v>
                </c:pt>
                <c:pt idx="1">
                  <c:v>2100</c:v>
                </c:pt>
                <c:pt idx="2">
                  <c:v>1990</c:v>
                </c:pt>
                <c:pt idx="3">
                  <c:v>1420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12.03.2025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12.03.2025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My thesis asks whether the client-to-edge assignment in hierarchical federated learning can be learned from the model updates themselves instead of being fixed in advance from network topology.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parts. I will spend most of the time on the method and on what the results do and do not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FedAvg trades communication rounds for local computation. Two structural problems have dominated the field since: statistical heterogeneity and communication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prior insight: clients from the same distribution produce positively aligned updates; clients from different ones produce near-orthogonal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Proximity is the right criterion for radio latency, but it says nothing about whether grouped clients have compatible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third objective: because the latent grouping is planted by construction, clustering quality can be scored directly rather than inferred from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hierarchy is logical, not physical — everything runs inside one Flower Strategy, so the three systems differ only in the assignment rule and share every other line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classifier head carries the clearest signal about which labels a client has seen, and it cuts the vector length from 50,186 to 31,370.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hysteresis, cluster 2 in one round has no relation to cluster 2 in the next, which destroys the continuity of the edge-model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latent groups are planted, so cluster recovery can be scored against ground truth. This makes the setting favourable to the method — a real structure exists to be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want to walk through why the accuracy claim fails, because finding that out was the most instructive part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structural property of hierarchical FL, not an implementation bug: an HFL scheme that syncs every round simply is FedAvg. Abad et al. evaluate H of 2, 4 and 6 and never report H =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cause is strong label skew interacting with the simulator's concurrent execution: the partition changes with the seed, and floating-point summation order varies with the order client actors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Static HFL scoring zero is exactly right — ARI is chance-corrected and a fixed round-robin partition is chance. So the adaptive system is extracting real information from update geometry alone, with no access to any client's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K = 12 in the shorter figure run, the hierarchy actually loses: each edge aggregator averages only about four clients, too little data to train on. That suggests a practical lower bound on clients per aggregator.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valuable next steps are the unglamorous ones — they would turn the accuracy question from undecidable into decidable.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—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999" y="5410800"/>
            <a:ext cx="11113227" cy="7308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details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200" y="1306800"/>
            <a:ext cx="11126250" cy="2008800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the</a:t>
            </a:r>
            <a:r>
              <a:rPr lang="de-DE" dirty="0"/>
              <a:t> title</a:t>
            </a:r>
            <a:endParaRPr lang="de-AT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596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 typeface="Arial" panose="020B0604020202020204" pitchFamily="34" charset="0"/>
              <a:buNone/>
              <a:defRPr sz="1700" baseline="0">
                <a:latin typeface="+mj-lt"/>
              </a:defRPr>
            </a:lvl1pPr>
            <a:lvl2pPr marL="216000" indent="-21600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Chapter 1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0"/>
            <a:r>
              <a:rPr lang="de-DE" dirty="0"/>
              <a:t>Chapter 2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0"/>
            <a:r>
              <a:rPr lang="de-DE" dirty="0"/>
              <a:t>Chapter 3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0"/>
            <a:r>
              <a:rPr lang="de-DE" dirty="0"/>
              <a:t>Chapter 4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0"/>
            <a:r>
              <a:rPr lang="de-DE" dirty="0"/>
              <a:t>Chapter 5</a:t>
            </a:r>
          </a:p>
          <a:p>
            <a:pPr lvl="1"/>
            <a:r>
              <a:rPr lang="de-DE" dirty="0"/>
              <a:t>Chapter 1</a:t>
            </a:r>
          </a:p>
          <a:p>
            <a:pPr lvl="1"/>
            <a:r>
              <a:rPr lang="de-DE" dirty="0"/>
              <a:t>Chapter 2</a:t>
            </a:r>
          </a:p>
          <a:p>
            <a:pPr lvl="1"/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6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a large </a:t>
            </a:r>
            <a:r>
              <a:rPr lang="de-DE" dirty="0" err="1"/>
              <a:t>image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1600" y="1621584"/>
            <a:ext cx="11138400" cy="451674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600" y="5858820"/>
            <a:ext cx="11138400" cy="278127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and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contrast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8800" y="1641600"/>
            <a:ext cx="5400000" cy="45144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 baseline="0"/>
            </a:lvl4pPr>
            <a:lvl5pPr algn="l">
              <a:defRPr baseline="0"/>
            </a:lvl5pPr>
          </a:lstStyle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3600" y="1638000"/>
            <a:ext cx="5400000" cy="4514400"/>
          </a:xfrm>
        </p:spPr>
        <p:txBody>
          <a:bodyPr/>
          <a:lstStyle/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136000" y="1638000"/>
            <a:ext cx="3474000" cy="4510800"/>
          </a:xfrm>
        </p:spPr>
        <p:txBody>
          <a:bodyPr/>
          <a:lstStyle/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6000" y="1721513"/>
            <a:ext cx="7214400" cy="4417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6000" y="5864981"/>
            <a:ext cx="7214400" cy="274118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Source: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title,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AT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ul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70000" y="1724299"/>
            <a:ext cx="8074800" cy="44172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400" y="5863959"/>
            <a:ext cx="8096400" cy="278127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 baseline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Source: 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formulas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6000" y="1724302"/>
            <a:ext cx="11034000" cy="4417200"/>
          </a:xfr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6000" y="5864400"/>
            <a:ext cx="11034000" cy="278127"/>
          </a:xfr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Source: 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maller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title, 3 </a:t>
            </a:r>
            <a:r>
              <a:rPr lang="de-DE" dirty="0" err="1"/>
              <a:t>smaller</a:t>
            </a:r>
            <a:r>
              <a:rPr lang="de-DE" dirty="0"/>
              <a:t>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88099" y="1638000"/>
            <a:ext cx="7225200" cy="4503600"/>
          </a:xfrm>
        </p:spPr>
        <p:txBody>
          <a:bodyPr/>
          <a:lstStyle/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a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86048" y="1641600"/>
            <a:ext cx="7225200" cy="4500000"/>
          </a:xfrm>
        </p:spPr>
        <p:txBody>
          <a:bodyPr/>
          <a:lstStyle/>
          <a:p>
            <a:pPr lvl="0"/>
            <a:r>
              <a:rPr lang="de-DE" dirty="0"/>
              <a:t>Space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Level 2</a:t>
            </a:r>
          </a:p>
          <a:p>
            <a:pPr lvl="2"/>
            <a:r>
              <a:rPr lang="de-DE" dirty="0"/>
              <a:t>Level 3</a:t>
            </a:r>
          </a:p>
          <a:p>
            <a:pPr lvl="3"/>
            <a:r>
              <a:rPr lang="de-DE" dirty="0"/>
              <a:t>Level 4</a:t>
            </a:r>
          </a:p>
          <a:p>
            <a:pPr lvl="4"/>
            <a:r>
              <a:rPr lang="de-DE" dirty="0"/>
              <a:t>Level 5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Space </a:t>
            </a:r>
            <a:r>
              <a:rPr lang="de-DE" dirty="0" err="1"/>
              <a:t>for</a:t>
            </a:r>
            <a:br>
              <a:rPr lang="de-DE" dirty="0"/>
            </a:br>
            <a:r>
              <a:rPr lang="de-DE" dirty="0" err="1"/>
              <a:t>your</a:t>
            </a:r>
            <a:r>
              <a:rPr lang="de-DE" dirty="0"/>
              <a:t> title, </a:t>
            </a:r>
            <a:r>
              <a:rPr lang="de-DE" dirty="0" err="1"/>
              <a:t>graphs</a:t>
            </a:r>
            <a:r>
              <a:rPr lang="de-DE" dirty="0"/>
              <a:t> and </a:t>
            </a:r>
            <a:r>
              <a:rPr lang="de-DE" dirty="0" err="1"/>
              <a:t>charts</a:t>
            </a:r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Space for author and course number 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600" y="1620000"/>
            <a:ext cx="11142000" cy="4514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12/14/2015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6225" y="6350400"/>
            <a:ext cx="360977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Space for author, student id no. and your course no.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2E1B1CB6-5C5C-443C-B788-F7ADFC29778E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C8A6B60-67FE-4018-965D-3E260F76D538}"/>
              </a:ext>
            </a:extLst>
          </p:cNvPr>
          <p:cNvSpPr txBox="1"/>
          <p:nvPr userDrawn="1"/>
        </p:nvSpPr>
        <p:spPr>
          <a:xfrm>
            <a:off x="385332" y="6469304"/>
            <a:ext cx="16097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0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2025S: 340010 // 340915</a:t>
            </a:r>
          </a:p>
        </p:txBody>
      </p:sp>
    </p:spTree>
    <p:extLst>
      <p:ext uri="{BB962C8B-B14F-4D97-AF65-F5344CB8AC3E}">
        <p14:creationId xmlns:p14="http://schemas.microsoft.com/office/powerpoint/2010/main" val="21956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70" r:id="rId2"/>
    <p:sldLayoutId id="2147483666" r:id="rId3"/>
    <p:sldLayoutId id="2147483662" r:id="rId4"/>
    <p:sldLayoutId id="2147483664" r:id="rId5"/>
    <p:sldLayoutId id="2147483671" r:id="rId6"/>
    <p:sldLayoutId id="2147483672" r:id="rId7"/>
    <p:sldLayoutId id="2147483673" r:id="rId8"/>
    <p:sldLayoutId id="2147483675" r:id="rId9"/>
    <p:sldLayoutId id="2147483674" r:id="rId10"/>
    <p:sldLayoutId id="2147483678" r:id="rId11"/>
  </p:sldLayoutIdLst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 userDrawn="1">
          <p15:clr>
            <a:srgbClr val="F26B43"/>
          </p15:clr>
        </p15:guide>
        <p15:guide id="2" pos="54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500">
                <a:solidFill>
                  <a:srgbClr val="555A60"/>
                </a:solidFill>
                <a:latin typeface="Arial"/>
              </a:rPr>
              <a:t>A data-similarity approach to client–edge assignment under non-IID 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Adaptive Peer Selection for</a:t>
            </a:r>
          </a:p>
          <a:p>
            <a:r>
              <a:rPr>
                <a:solidFill>
                  <a:srgbClr val="1A1A1A"/>
                </a:solidFill>
              </a:rPr>
              <a:t>Hierarchical Federated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" y="5760720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A1A1A"/>
                </a:solidFill>
                <a:latin typeface="Arial"/>
              </a:rPr>
              <a:t>Ibrahim Aboelsouod  ·  K12140435  ·  Bachelor's Programme Artificial Intelligence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A60"/>
                </a:solidFill>
                <a:latin typeface="Arial"/>
              </a:rPr>
              <a:t>Supervisor: Univ.-Prof. Dr. Alois Ferscha  ·  Institute of Pervasive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566928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A1A1A"/>
                </a:solidFill>
                <a:latin typeface="Arial Black"/>
              </a:rPr>
              <a:t>Overview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5296" y="166420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46E98"/>
                </a:solidFill>
                <a:latin typeface="Arial"/>
              </a:rPr>
              <a:t>Motivation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A60"/>
                </a:solidFill>
                <a:latin typeface="Arial"/>
              </a:rPr>
              <a:t>Why federated learning struggles under non-IID data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423160"/>
            <a:ext cx="384048" cy="384048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6" y="239572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46E98"/>
                </a:solidFill>
                <a:latin typeface="Arial"/>
              </a:rPr>
              <a:t>Background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A60"/>
                </a:solidFill>
                <a:latin typeface="Arial"/>
              </a:rPr>
              <a:t>FedAvg, hierarchical FL, and the gap this work targets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6" y="312724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46E98"/>
                </a:solidFill>
                <a:latin typeface="Arial"/>
              </a:rPr>
              <a:t>Method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A60"/>
                </a:solidFill>
                <a:latin typeface="Arial"/>
              </a:rPr>
              <a:t>Adaptive peer selection from update similarity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886200"/>
            <a:ext cx="384048" cy="384048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38587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46E98"/>
                </a:solidFill>
                <a:latin typeface="Arial"/>
              </a:rPr>
              <a:t>Evaluation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A60"/>
                </a:solidFill>
                <a:latin typeface="Arial"/>
              </a:rPr>
              <a:t>Setup, metrics, and what the experiment can decide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617720"/>
            <a:ext cx="384048" cy="384048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459028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46E98"/>
                </a:solidFill>
                <a:latin typeface="Arial"/>
              </a:rPr>
              <a:t>Findings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A60"/>
                </a:solidFill>
                <a:latin typeface="Arial"/>
              </a:rPr>
              <a:t>Cluster recovery, a degeneracy, and a noise floor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5321807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046E98"/>
                </a:solidFill>
                <a:latin typeface="Arial"/>
              </a:rPr>
              <a:t>Conclusion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A60"/>
                </a:solidFill>
                <a:latin typeface="Arial"/>
              </a:rPr>
              <a:t>Limitations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Federated learning: the promise and two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157276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55A60"/>
                </a:solidFill>
                <a:latin typeface="Arial"/>
              </a:rPr>
              <a:t>Train a shared model across many clients without ever centralising their raw data. Only parameter updates are exchanged.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" y="2286000"/>
            <a:ext cx="5440680" cy="201168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68680" y="2633472"/>
            <a:ext cx="274320" cy="274320"/>
          </a:xfrm>
          <a:prstGeom prst="ellipse">
            <a:avLst/>
          </a:prstGeom>
          <a:solidFill>
            <a:srgbClr val="E73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9304" y="2606040"/>
            <a:ext cx="4343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E73729"/>
                </a:solidFill>
                <a:latin typeface="Arial"/>
              </a:rPr>
              <a:t>Statistical heterogeneity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Client data is non-IID: one user, one hospital, one region. Local optima drift apart and their average serves no one well.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E73729"/>
                </a:solidFill>
                <a:latin typeface="Arial"/>
              </a:rPr>
              <a:t>Accuracy degrades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286000"/>
            <a:ext cx="5440680" cy="201168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647688" y="2633472"/>
            <a:ext cx="274320" cy="27432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8312" y="2606040"/>
            <a:ext cx="4343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046E98"/>
                </a:solidFill>
                <a:latin typeface="Arial"/>
              </a:rPr>
              <a:t>Communication cost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central aggregator must reach every client every round — a bandwidth bottleneck, a latency bottleneck, a single point of failure.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1">
                <a:solidFill>
                  <a:srgbClr val="046E98"/>
                </a:solidFill>
                <a:latin typeface="Arial"/>
              </a:rPr>
              <a:t>Does not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470916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A1A1A"/>
                </a:solidFill>
                <a:latin typeface="Arial"/>
              </a:rPr>
              <a:t>Hierarchical FL answers the second problem. This thesis asks whether the same structure can be made to answer the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Background: FedAvg and the non-IID problem</a:t>
            </a:r>
          </a:p>
        </p:txBody>
      </p:sp>
      <p:pic>
        <p:nvPicPr>
          <p:cNvPr id="3" name="Picture 2" descr="method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993747"/>
            <a:ext cx="4892040" cy="9959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720840" y="3520440"/>
            <a:ext cx="4992624" cy="169164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22592" y="3767328"/>
            <a:ext cx="44348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046E98"/>
                </a:solidFill>
                <a:latin typeface="Arial"/>
              </a:rPr>
              <a:t>Cosine, not Euclidean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Update magnitude reflects dataset size and training length. Only the direction carries the distributional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828800"/>
            <a:ext cx="598932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FedAvg averages client parameters weighted by sample count.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Under label skew, local optima are far from the global optimum — clients drift apart.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Dirichlet partitioning with concentration α controls the skew; α = 0.1 is strong skew.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•  Clustered FL (Sattler et al.) showed the cosine similarity of updates reveals which distribution a client belongs 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Hierarchical FL — and the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2000" b="1" i="0">
                <a:solidFill>
                  <a:srgbClr val="046E98"/>
                </a:solidFill>
                <a:latin typeface="Arial"/>
              </a:rPr>
              <a:t>Abad et al., ICASSP 2020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Clients cluster around small-cell base stations; intra-cluster aggregation every round, global sync every H rounds.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5.6×–41.5× latency improvement, no accuracy penalty.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E73729"/>
                </a:solidFill>
                <a:latin typeface="Arial"/>
              </a:rPr>
              <a:t>Assignment is spatial and static.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555A60"/>
                </a:solidFill>
                <a:latin typeface="Arial"/>
              </a:rPr>
              <a:t>Evaluated on IID data — non-IID named as future work.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2000" b="1" i="0">
                <a:solidFill>
                  <a:srgbClr val="046E98"/>
                </a:solidFill>
                <a:latin typeface="Arial"/>
              </a:rPr>
              <a:t>Rana et al.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Aggregator placement and user assignment framed as a dynamic optimisation problem — aggregator location need not be predetermined.</a:t>
            </a:r>
          </a:p>
          <a:p>
            <a:pPr algn="l">
              <a:spcBef>
                <a:spcPts val="0"/>
              </a:spcBef>
              <a:spcAft>
                <a:spcPts val="900"/>
              </a:spcAft>
              <a:buNone/>
            </a:pPr>
            <a:r>
              <a:rPr sz="2000" b="1" i="0">
                <a:solidFill>
                  <a:srgbClr val="4CAC4E"/>
                </a:solidFill>
                <a:latin typeface="Arial"/>
              </a:rPr>
              <a:t>This thesis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A1A1A"/>
                </a:solidFill>
                <a:latin typeface="Arial"/>
              </a:rPr>
              <a:t>Keep Abad et al.'s H-periodic schedule; replace the spatial rule with a similarity-driven one, in the non-IID regime they left open.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Research question and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" y="1645920"/>
            <a:ext cx="11228832" cy="1298448"/>
          </a:xfrm>
          <a:prstGeom prst="roundRect">
            <a:avLst>
              <a:gd name="adj" fmla="val 4000"/>
            </a:avLst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 i="1">
                <a:solidFill>
                  <a:srgbClr val="FFFFFF"/>
                </a:solidFill>
                <a:latin typeface="Arial"/>
              </a:rPr>
              <a:t>Can client-to-edge assignment be recovered at runtime from the similarity of model updates — and does it help?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3310128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3291840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46E98"/>
                </a:solidFill>
                <a:latin typeface="Arial"/>
              </a:rPr>
              <a:t>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assignment rule driven by update-delta cosine similarity, using no raw data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4041648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4023360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46E98"/>
                </a:solidFill>
                <a:latin typeface="Arial"/>
              </a:rPr>
              <a:t>Integrate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Drop it into the H-periodic hierarchical loop without modifying the loop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773168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754880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46E98"/>
                </a:solidFill>
                <a:latin typeface="Arial"/>
              </a:rPr>
              <a:t>Measure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Task accuracy and cluster recovery against a known latent grouping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5504688"/>
            <a:ext cx="365760" cy="365760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5486400"/>
            <a:ext cx="10424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046E98"/>
                </a:solidFill>
                <a:latin typeface="Arial"/>
              </a:rPr>
              <a:t>Characterise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accuracy–communication trade-off as the sync period H varies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System model: three logical tiers</a:t>
            </a:r>
          </a:p>
        </p:txBody>
      </p:sp>
      <p:pic>
        <p:nvPicPr>
          <p:cNvPr id="3" name="Picture 2" descr="arch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039" y="1645920"/>
            <a:ext cx="7651440" cy="3063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84632" y="4956048"/>
            <a:ext cx="3611880" cy="969264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0664" y="512064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808288"/>
                </a:solidFill>
                <a:latin typeface="Arial"/>
              </a:rPr>
              <a:t>System A — flat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Standard FedAvg. One global model every 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4956048"/>
            <a:ext cx="3611880" cy="969264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0" y="512064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BBA00"/>
                </a:solidFill>
                <a:latin typeface="Arial"/>
              </a:rPr>
              <a:t>System B — static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Fixed round-robin assignment π(i) = i mod 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7304" y="4956048"/>
            <a:ext cx="3611880" cy="969264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03336" y="512064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4CAC4E"/>
                </a:solidFill>
                <a:latin typeface="Arial"/>
              </a:rPr>
              <a:t>System C — adaptive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A1A"/>
                </a:solidFill>
                <a:latin typeface="Arial"/>
              </a:rPr>
              <a:t>π recomputed from update similarity at each sync.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Adaptive peer selection in four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" y="1719072"/>
            <a:ext cx="11228832" cy="987552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77240" y="1993391"/>
            <a:ext cx="438912" cy="438912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901952"/>
            <a:ext cx="99669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46E98"/>
                </a:solidFill>
                <a:latin typeface="Arial"/>
              </a:rPr>
              <a:t>Update deltas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Δᵢ = θᵢ − w_glob, restricted to the classifier layer, all measured against one common reference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" y="2816352"/>
            <a:ext cx="11228832" cy="987552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3090672"/>
            <a:ext cx="438912" cy="438912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999232"/>
            <a:ext cx="99669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46E98"/>
                </a:solidFill>
                <a:latin typeface="Arial"/>
              </a:rPr>
              <a:t>Similarity matrix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Pairwise cosine similarity of the deltas — direction only, magnitude discarded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" y="3913632"/>
            <a:ext cx="11228832" cy="987552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77240" y="4187952"/>
            <a:ext cx="438912" cy="438912"/>
          </a:xfrm>
          <a:prstGeom prst="ellipse">
            <a:avLst/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4096512"/>
            <a:ext cx="99669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46E98"/>
                </a:solidFill>
                <a:latin typeface="Arial"/>
              </a:rPr>
              <a:t>Peer graph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Weighted graph, sparsified by a similarity threshold τ union the top-k nearest neighbours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" y="5010912"/>
            <a:ext cx="11228832" cy="987552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77240" y="5285232"/>
            <a:ext cx="438912" cy="438912"/>
          </a:xfrm>
          <a:prstGeom prst="ellipse">
            <a:avLst/>
          </a:prstGeom>
          <a:solidFill>
            <a:srgbClr val="4CA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5193792"/>
            <a:ext cx="99669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4CAC4E"/>
                </a:solidFill>
                <a:latin typeface="Arial"/>
              </a:rPr>
              <a:t>Community detection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Louvain partitions the graph; each community becomes one edge aggregator — the number of groups is emergent, not a hyperparameter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6144768"/>
            <a:ext cx="11228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046E98"/>
                </a:solidFill>
                <a:latin typeface="Arial"/>
              </a:rPr>
              <a:t>Uses only the parameter updates FedAvg already transmits — no raw data, no label histograms, no extra communication.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Stabilising it: warm-up, hysteresis, and the loop</a:t>
            </a:r>
          </a:p>
        </p:txBody>
      </p:sp>
      <p:pic>
        <p:nvPicPr>
          <p:cNvPr id="3" name="Picture 2" descr="al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14" y="1600200"/>
            <a:ext cx="7492531" cy="4343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183879" y="1645920"/>
            <a:ext cx="3529584" cy="205740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58200" y="1874519"/>
            <a:ext cx="299923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46E98"/>
                </a:solidFill>
                <a:latin typeface="Arial"/>
              </a:rPr>
              <a:t>Warm-up (W)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Early deltas are initialisation noise, not data signal. The first W rounds group clients randomly.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3886200"/>
            <a:ext cx="3529584" cy="205740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58200" y="4114800"/>
            <a:ext cx="299923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046E98"/>
                </a:solidFill>
                <a:latin typeface="Arial"/>
              </a:rPr>
              <a:t>Hysteresis (η)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Community labels are arbitrary and permute between rounds. A community keeps its identity when a majority of members stayed together.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Experimental setup</a:t>
            </a:r>
          </a:p>
        </p:txBody>
      </p:sp>
      <p:pic>
        <p:nvPicPr>
          <p:cNvPr id="3" name="Picture 2" descr="label_dist_alpha_0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16" y="1691640"/>
            <a:ext cx="6762750" cy="3246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" y="5029200"/>
            <a:ext cx="6903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5A60"/>
                </a:solidFill>
                <a:latin typeface="Arial"/>
              </a:rPr>
              <a:t>Per-client label composition at α = 0.1, ordered by latent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691640"/>
            <a:ext cx="3986784" cy="324612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28431" y="1920240"/>
            <a:ext cx="342900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46E98"/>
                </a:solidFill>
                <a:latin typeface="Arial"/>
              </a:rPr>
              <a:t>Configuration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Dataset   </a:t>
            </a:r>
            <a:r>
              <a:rPr sz="1200">
                <a:solidFill>
                  <a:srgbClr val="555A60"/>
                </a:solidFill>
                <a:latin typeface="Arial"/>
              </a:rPr>
              <a:t>Fashion-MNIST, CNN (50,186 params)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Clients   </a:t>
            </a:r>
            <a:r>
              <a:rPr sz="1200">
                <a:solidFill>
                  <a:srgbClr val="555A60"/>
                </a:solidFill>
                <a:latin typeface="Arial"/>
              </a:rPr>
              <a:t>K = 50, full participation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Rounds   </a:t>
            </a:r>
            <a:r>
              <a:rPr sz="1200">
                <a:solidFill>
                  <a:srgbClr val="555A60"/>
                </a:solidFill>
                <a:latin typeface="Arial"/>
              </a:rPr>
              <a:t>T = 10, E = 2 local epochs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Non-IID   </a:t>
            </a:r>
            <a:r>
              <a:rPr sz="1200">
                <a:solidFill>
                  <a:srgbClr val="555A60"/>
                </a:solidFill>
                <a:latin typeface="Arial"/>
              </a:rPr>
              <a:t>Dirichlet α = 0.1, 3 latent groups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Sync period   </a:t>
            </a:r>
            <a:r>
              <a:rPr sz="1200">
                <a:solidFill>
                  <a:srgbClr val="555A60"/>
                </a:solidFill>
                <a:latin typeface="Arial"/>
              </a:rPr>
              <a:t>H ∈ {1, 2}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Seeds   </a:t>
            </a:r>
            <a:r>
              <a:rPr sz="1200">
                <a:solidFill>
                  <a:srgbClr val="555A60"/>
                </a:solidFill>
                <a:latin typeface="Arial"/>
              </a:rPr>
              <a:t>42, 43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5440680"/>
            <a:ext cx="112288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46E98"/>
                </a:solidFill>
                <a:latin typeface="Arial"/>
              </a:rPr>
              <a:t>Three metrics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Top-1 accuracy of the global model  ·  Adjusted Rand Index and NMI against the planted grouping  ·  a weighted transfer-count proxy for communication (edge→global charged 10× client→edge)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Results: the headline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84632" y="1645920"/>
          <a:ext cx="11228832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77240"/>
                <a:gridCol w="2148840"/>
                <a:gridCol w="2331720"/>
                <a:gridCol w="1691640"/>
                <a:gridCol w="1261872"/>
              </a:tblGrid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Final acc.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Final ARI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Comm. cost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Speed-up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 — Flat FedAvg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0.743 ± 0.091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10000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1.00×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 — Static HFL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0.789 ± 0.038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−0.004 ± 0.012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2100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4.76×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 — Adaptive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0.788 ± 0.062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CAC4E"/>
                          </a:solidFill>
                          <a:latin typeface="Arial"/>
                        </a:rPr>
                        <a:t>0.358 ± 0.106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1990 ± 156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5.04×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 — Flat FedAvg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0.779 ± 0.046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10000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1.00×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 — Static HFL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0.766 ± 0.003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−0.004 ± 0.012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1600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6.25×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 — Adaptive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0.737 ± 0.056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CAC4E"/>
                          </a:solidFill>
                          <a:latin typeface="Arial"/>
                        </a:rPr>
                        <a:t>0.255 ± 0.079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1420 ± 85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7.05×</a:t>
                      </a:r>
                    </a:p>
                  </a:txBody>
                  <a:tcPr marL="91440" marR="91440" anchor="ctr">
                    <a:solidFill>
                      <a:srgbClr val="E8F4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84632" y="4892040"/>
            <a:ext cx="11228832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Read uncritically, the H = 1 block flatters the method: adaptive reaches 0.788 against flat's 0.743, at a fifth of the communication cost, while recovering the planted structure.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73729"/>
                </a:solidFill>
                <a:latin typeface="Arial"/>
              </a:rPr>
              <a:t>The communication and cluster-recovery claims survive. The accuracy claim does not — for two independent reasons.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Finding 1: the H = 1 comparison is degenerate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1572768"/>
            <a:ext cx="112288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At H = 1 every round is a synchronisation round, so the two-stage aggregation telescopes:</a:t>
            </a:r>
          </a:p>
        </p:txBody>
      </p:sp>
      <p:pic>
        <p:nvPicPr>
          <p:cNvPr id="4" name="Picture 3" descr="degen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925" y="2148840"/>
            <a:ext cx="5579668" cy="1234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" y="3611880"/>
            <a:ext cx="11228832" cy="118872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73729"/>
                </a:solidFill>
                <a:latin typeface="Arial"/>
              </a:rPr>
              <a:t>The cluster weights cancel. All three systems execute the same algorithm at H = 1 — the assignment is computed and logged, but never influences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5029200"/>
            <a:ext cx="1122883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46E98"/>
                </a:solidFill>
                <a:latin typeface="Arial"/>
              </a:rPr>
              <a:t>Consequences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 Half the sweep compares three implementations of one algorithm — a design error, not a result.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 Only the H = 2 block compares the systems. There the order reverses: flat 0.779 &gt; static 0.766 &gt; adaptive 0.737.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 ARI stays valid throughout, since the assignment is scored whether or not it is used.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Finding 2: the differences are below the noise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1572768"/>
            <a:ext cx="112288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Flat FedAvg ignores H entirely — so the two flat rows of the table are the same experiment run twice, same seeds, same code path. Any difference is pure run-to-run variation.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4632" y="2514600"/>
          <a:ext cx="64465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240280"/>
                <a:gridCol w="224028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Seed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Run 1 (H = 1 config)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Run 2 (H = 2 config)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Spread</a:t>
                      </a:r>
                    </a:p>
                  </a:txBody>
                  <a:tcPr marL="91440" marR="91440" anchor="ctr">
                    <a:solidFill>
                      <a:srgbClr val="046E9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0.679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0.747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E73729"/>
                          </a:solidFill>
                          <a:latin typeface="Arial"/>
                        </a:rPr>
                        <a:t>6.8 pp</a:t>
                      </a:r>
                    </a:p>
                  </a:txBody>
                  <a:tcPr marL="91440" marR="91440" anchor="ctr">
                    <a:solidFill>
                      <a:srgbClr val="EF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0.807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0.812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0.5 pp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60920" y="2514600"/>
            <a:ext cx="4352544" cy="1234440"/>
          </a:xfrm>
          <a:prstGeom prst="roundRect">
            <a:avLst>
              <a:gd name="adj" fmla="val 4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60920" y="2615184"/>
            <a:ext cx="435254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3400" b="1" i="0">
                <a:solidFill>
                  <a:srgbClr val="E73729"/>
                </a:solidFill>
                <a:latin typeface="Arial"/>
              </a:rPr>
              <a:t>6.8 pp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A60"/>
                </a:solidFill>
                <a:latin typeface="Arial"/>
              </a:rPr>
              <a:t>run-to-run noise floor, identical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4160520"/>
            <a:ext cx="1122883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Larger than every between-system accuracy difference measured, including the 4.2-point gap at H = 2.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The between-seed gap is larger still — seed 42 lands near 0.68–0.75, seed 43 near 0.81.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•  Flat FedAvg's last four rounds on seed 42: 0.755, 0.660, 0.761, 0.679 — final-round accuracy is itself a noisy estimator.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600" b="1" i="0">
                <a:solidFill>
                  <a:srgbClr val="E73729"/>
                </a:solidFill>
                <a:latin typeface="Arial"/>
              </a:rPr>
              <a:t>Honest reading: no accuracy difference between the three systems is statistically supported by this experiment.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The result that does hold: cluster recovery</a:t>
            </a:r>
          </a:p>
        </p:txBody>
      </p:sp>
      <p:pic>
        <p:nvPicPr>
          <p:cNvPr id="3" name="Picture 2" descr="cluster_quality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12" y="1645920"/>
            <a:ext cx="6389478" cy="3520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4632" y="5230368"/>
            <a:ext cx="6720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555A60"/>
                </a:solidFill>
                <a:latin typeface="Arial"/>
              </a:rPr>
              <a:t>ARI and NMI over training rounds; warm-up covers rounds 0–3.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645920"/>
            <a:ext cx="4215384" cy="1188720"/>
          </a:xfrm>
          <a:prstGeom prst="roundRect">
            <a:avLst>
              <a:gd name="adj" fmla="val 4000"/>
            </a:avLst>
          </a:prstGeom>
          <a:solidFill>
            <a:srgbClr val="E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79" y="1755648"/>
            <a:ext cx="421538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3800" b="1" i="0">
                <a:solidFill>
                  <a:srgbClr val="4CAC4E"/>
                </a:solidFill>
                <a:latin typeface="Arial"/>
              </a:rPr>
              <a:t>0.358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A60"/>
                </a:solidFill>
                <a:latin typeface="Arial"/>
              </a:rPr>
              <a:t>Adaptive (C) — final 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944368"/>
            <a:ext cx="4215384" cy="118872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79" y="3054096"/>
            <a:ext cx="421538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3800" b="1" i="0">
                <a:solidFill>
                  <a:srgbClr val="808288"/>
                </a:solidFill>
                <a:latin typeface="Arial"/>
              </a:rPr>
              <a:t>−0.004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A60"/>
                </a:solidFill>
                <a:latin typeface="Arial"/>
              </a:rPr>
              <a:t>Static round-robin (B) — final 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315968"/>
            <a:ext cx="421538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•  ≈ 3 standard deviations apart; holds at both seeds and both values of H.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•  Unaffected by the H = 1 degeneracy — the assignment is scored either way.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•  Louvain finds 3–5 communities where 3 were planted; ARI punishes that over-segmentation.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•  The signal weakens later in training as updates shrink toward stationarity.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Communication and the trade-off in 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84632" y="1691640"/>
          <a:ext cx="635508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78040" y="1783080"/>
            <a:ext cx="4535424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4CAC4E"/>
                </a:solidFill>
                <a:latin typeface="Arial"/>
              </a:rPr>
              <a:t>5–7× cheaper than flat FedAvg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 Almost all of the saving comes from having a hierarchy at all, not from adaptivity (static 4.76× vs adaptive 5.04×).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 Raising H from 1 to 2 improves the speed-up to 7.05× but drops ARI from 0.358 to 0.255 — the assignment is refreshed from staler information.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 Abad et al. saw accuracy rise with H on IID data; under α = 0.1 each cluster optimises a genuinely different objective, so drift between syncs hurts.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0" i="1">
                <a:solidFill>
                  <a:srgbClr val="555A60"/>
                </a:solidFill>
                <a:latin typeface="Arial"/>
              </a:rPr>
              <a:t>Conditional on λ = 10 for the backhaul hop — an assumption, not a measurement.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000" b="1" i="0">
                <a:solidFill>
                  <a:srgbClr val="E73729"/>
                </a:solidFill>
                <a:latin typeface="Arial"/>
              </a:rPr>
              <a:t>Limitations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H = 1 is degenerate — the accuracy evidence rests on one non-degenerate setting.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Two seeds; the noise floor exceeds every effect measured.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50 clients, 10 rounds — early training only, asymptotics unobserved.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Simulation only: no real network, no stragglers or dropout.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One dataset, one shift type; the latent structure was planted, so the setting favours the method.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server needs per-client updates in the clear — in tension with secure aggregation.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sz="2000" b="1" i="0">
                <a:solidFill>
                  <a:srgbClr val="4CAC4E"/>
                </a:solidFill>
                <a:latin typeface="Arial"/>
              </a:rPr>
              <a:t>Future work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Drop H = 1, add H ∈ {4, 6}, raise the seed count and report confidence intervals.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a stable accuracy statistic — mean over the last k rounds, not a final-round snapshot.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minimum-cluster-size constraint to prevent communities too small to train on.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An assignment-frozen ablation at H &gt; 1 to explain the ARI decay.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Covariate shift (rotated-MNIST), CIFAR-10, and a sweep over α.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Privacy-compatible similarity: secure sketches or DP projections of the deltas.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A1A1A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1600200"/>
            <a:ext cx="11228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Arial"/>
              </a:rPr>
              <a:t>Can client-to-edge assignment be recovered from update geometry? Yes for the recovery; undetermined for the downstream accuracy benefit.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" y="228600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4632" y="2432304"/>
            <a:ext cx="3611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3600" b="1" i="0">
                <a:solidFill>
                  <a:srgbClr val="4CAC4E"/>
                </a:solidFill>
                <a:latin typeface="Arial"/>
              </a:rPr>
              <a:t>0.358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A60"/>
                </a:solidFill>
                <a:latin typeface="Arial"/>
              </a:rPr>
              <a:t>ARI recovered
(vs −0.004 for the control)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228600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315968" y="2432304"/>
            <a:ext cx="3611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3600" b="1" i="0">
                <a:solidFill>
                  <a:srgbClr val="046E98"/>
                </a:solidFill>
                <a:latin typeface="Arial"/>
              </a:rPr>
              <a:t>5–7×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A60"/>
                </a:solidFill>
                <a:latin typeface="Arial"/>
              </a:rPr>
              <a:t>communication saving
over flat FedAvg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7304" y="2286000"/>
            <a:ext cx="3611880" cy="1417320"/>
          </a:xfrm>
          <a:prstGeom prst="roundRect">
            <a:avLst>
              <a:gd name="adj" fmla="val 4000"/>
            </a:avLst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47304" y="2432304"/>
            <a:ext cx="36118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3600" b="1" i="0">
                <a:solidFill>
                  <a:srgbClr val="E73729"/>
                </a:solidFill>
                <a:latin typeface="Arial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55A60"/>
                </a:solidFill>
                <a:latin typeface="Arial"/>
              </a:rPr>
              <a:t>accuracy claims the
experiment can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3977639"/>
            <a:ext cx="11228832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 Latent client structure is recoverable from the updates a federation already exchanges — no raw data, no extra communication, negligible compute.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 Reaching the honest verdict on accuracy required deriving the aggregation symbolically and noticing that a parameter one baseline ignores had changed its result.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•  The information needed to group clients sensibly is already there. Whether exploiting it improves the models is a question a better-powered experiment should now settle.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" y="5742432"/>
            <a:ext cx="11228832" cy="566928"/>
          </a:xfrm>
          <a:prstGeom prst="roundRect">
            <a:avLst>
              <a:gd name="adj" fmla="val 4000"/>
            </a:avLst>
          </a:prstGeom>
          <a:solidFill>
            <a:srgbClr val="046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4632" y="5742432"/>
            <a:ext cx="1122883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Code, configurations and all result logs:  github.com/IAboelsouod/Adaptive-Peer-Selection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0DDFDD34-7D92-4897-9D7A-8A9560133C38}" vid="{0B68C938-5239-4580-988B-AE68B50A26B2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Arial</vt:lpstr>
      <vt:lpstr>Arial Black</vt:lpstr>
      <vt:lpstr>Wingdings</vt:lpstr>
      <vt:lpstr>Wingdings 2</vt:lpstr>
      <vt:lpstr>Larissa</vt:lpstr>
      <vt:lpstr>PowerPoint-Präsentation</vt:lpstr>
      <vt:lpstr>PowerPoint-Präsentation</vt:lpstr>
    </vt:vector>
  </TitlesOfParts>
  <Company>JKU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mayr</dc:creator>
  <cp:lastModifiedBy>mayr</cp:lastModifiedBy>
  <cp:revision>1</cp:revision>
  <cp:lastPrinted>2015-10-19T12:36:16Z</cp:lastPrinted>
  <dcterms:created xsi:type="dcterms:W3CDTF">2025-03-12T08:04:28Z</dcterms:created>
  <dcterms:modified xsi:type="dcterms:W3CDTF">2025-03-12T08:06:01Z</dcterms:modified>
</cp:coreProperties>
</file>